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380" y="721360"/>
            <a:ext cx="11061700" cy="2923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7D2E0"/>
                </a:solidFill>
                <a:latin typeface="Aptos"/>
              </a:defRPr>
            </a:pPr>
            <a:r>
              <a:rPr lang="en-IN" dirty="0"/>
              <a:t>PROJECT PRESENTATION  PHASE - 2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10" y="1414024"/>
            <a:ext cx="11191240" cy="28571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8800" dirty="0"/>
              <a:t>Driver</a:t>
            </a:r>
          </a:p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8800" dirty="0"/>
              <a:t>Monitoring System</a:t>
            </a:r>
            <a:endParaRPr sz="6600" dirty="0"/>
          </a:p>
        </p:txBody>
      </p:sp>
      <p:sp>
        <p:nvSpPr>
          <p:cNvPr id="10" name="TextBox 9"/>
          <p:cNvSpPr txBox="1"/>
          <p:nvPr/>
        </p:nvSpPr>
        <p:spPr>
          <a:xfrm>
            <a:off x="733425" y="4982416"/>
            <a:ext cx="5486400" cy="1302921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C98B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Submitted by :</a:t>
            </a:r>
          </a:p>
          <a:p>
            <a:pPr>
              <a:spcAft>
                <a:spcPts val="800"/>
              </a:spcAft>
              <a:defRPr sz="1100" b="0">
                <a:solidFill>
                  <a:srgbClr val="FFC98B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Ayushi Kumari     - 1103700 -  leader</a:t>
            </a:r>
          </a:p>
          <a:p>
            <a:pPr>
              <a:spcAft>
                <a:spcPts val="800"/>
              </a:spcAft>
              <a:defRPr sz="1100" b="0">
                <a:solidFill>
                  <a:srgbClr val="FFC98B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Jyotiraditya Bhatt - 1103716 </a:t>
            </a:r>
          </a:p>
          <a:p>
            <a:pPr>
              <a:spcAft>
                <a:spcPts val="800"/>
              </a:spcAft>
              <a:defRPr sz="1100" b="0">
                <a:solidFill>
                  <a:srgbClr val="FFC98B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Mayank Pandey – 1103727</a:t>
            </a:r>
          </a:p>
          <a:p>
            <a:pPr>
              <a:spcAft>
                <a:spcPts val="800"/>
              </a:spcAft>
              <a:defRPr sz="1100" b="0">
                <a:solidFill>
                  <a:srgbClr val="FFC98B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E35EB-A6F9-27C8-84F4-9678C8F3EB96}"/>
              </a:ext>
            </a:extLst>
          </p:cNvPr>
          <p:cNvSpPr txBox="1"/>
          <p:nvPr/>
        </p:nvSpPr>
        <p:spPr>
          <a:xfrm>
            <a:off x="533400" y="137745"/>
            <a:ext cx="2943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MLI-III-2026-T003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6858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42744"/>
                </a:solidFill>
                <a:latin typeface="Aptos"/>
              </a:defRPr>
            </a:pPr>
            <a:r>
              <a:t>Goal: help identify driver drowsiness using computer vision and deep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38328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82296" cy="192024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1 —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2971800" cy="11430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Prepare, organize and augment image data for model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8328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82296" cy="1920240"/>
          </a:xfrm>
          <a:prstGeom prst="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1343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2 —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07208"/>
            <a:ext cx="2971800" cy="11430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rPr dirty="0"/>
              <a:t>Train and compare CNN architectures for drowsiness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383280" cy="192024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82296" cy="1920240"/>
          </a:xfrm>
          <a:prstGeom prst="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31343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3 — Detector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07208"/>
            <a:ext cx="2971800" cy="11430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Combine trained CNN models into an ensemble detector.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434840"/>
            <a:ext cx="338328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0" y="4434840"/>
            <a:ext cx="82296" cy="1508760"/>
          </a:xfrm>
          <a:prstGeom prst="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4599431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6 —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093207"/>
            <a:ext cx="2971800" cy="7315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Build a Streamlit interface for the webcam demo and system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34840"/>
            <a:ext cx="338328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4434840"/>
            <a:ext cx="82296" cy="1508760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599431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Status 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093207"/>
            <a:ext cx="2971800" cy="7315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B3440"/>
                </a:solidFill>
                <a:latin typeface="Aptos"/>
              </a:defRPr>
            </a:pPr>
            <a:r>
              <a:rPr dirty="0"/>
              <a:t>Phase 4 and Phase 5 are pending / excluded from this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1 — Dataset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698480" cy="5943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Purpose: prepare a consistent dataset that a CNN can learn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B3440"/>
                </a:solidFill>
                <a:latin typeface="Aptos"/>
              </a:defRPr>
            </a:pPr>
            <a:r>
              <a:t>Collect and organize images for the drowsiness-related classes used in the project.</a:t>
            </a:r>
          </a:p>
          <a:p>
            <a:pPr>
              <a:spcAft>
                <a:spcPts val="1500"/>
              </a:spcAft>
              <a:defRPr sz="1900">
                <a:solidFill>
                  <a:srgbClr val="2B3440"/>
                </a:solidFill>
                <a:latin typeface="Aptos"/>
              </a:defRPr>
            </a:pPr>
            <a:r>
              <a:t>Check image files and arrange them into suitable folders / labels.</a:t>
            </a:r>
          </a:p>
          <a:p>
            <a:pPr>
              <a:spcAft>
                <a:spcPts val="1500"/>
              </a:spcAft>
              <a:defRPr sz="1900">
                <a:solidFill>
                  <a:srgbClr val="2B3440"/>
                </a:solidFill>
                <a:latin typeface="Aptos"/>
              </a:defRPr>
            </a:pPr>
            <a:r>
              <a:t>Preprocess images into a consistent format and size for model input.</a:t>
            </a:r>
          </a:p>
          <a:p>
            <a:pPr>
              <a:spcAft>
                <a:spcPts val="1500"/>
              </a:spcAft>
              <a:defRPr sz="1900">
                <a:solidFill>
                  <a:srgbClr val="2B3440"/>
                </a:solidFill>
                <a:latin typeface="Aptos"/>
              </a:defRPr>
            </a:pPr>
            <a:r>
              <a:t>Apply data augmentation to increase training variety and reduce overfitting.</a:t>
            </a:r>
          </a:p>
          <a:p>
            <a:pPr>
              <a:spcAft>
                <a:spcPts val="1500"/>
              </a:spcAft>
              <a:defRPr sz="1900">
                <a:solidFill>
                  <a:srgbClr val="2B3440"/>
                </a:solidFill>
                <a:latin typeface="Aptos"/>
              </a:defRPr>
            </a:pPr>
            <a:r>
              <a:t>Prepare training and validation data for the model-training phase.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1 — Preparation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011680" cy="960120"/>
          </a:xfrm>
          <a:prstGeom prst="round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Collect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2057400"/>
            <a:ext cx="2011680" cy="960120"/>
          </a:xfrm>
          <a:prstGeom prst="round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Inspect &amp;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2664" y="2057400"/>
            <a:ext cx="2011680" cy="960120"/>
          </a:xfrm>
          <a:prstGeom prst="round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0064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2057400"/>
            <a:ext cx="2011680" cy="960120"/>
          </a:xfrm>
          <a:prstGeom prst="round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4936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2057400"/>
            <a:ext cx="2011680" cy="96012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Train/Validation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480060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82296" cy="150876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050791"/>
            <a:ext cx="438912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Why preprocessing?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44568"/>
            <a:ext cx="4389120" cy="7315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Consistent image dimensions and format help models process the data reliably.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480060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82296" cy="1508760"/>
          </a:xfrm>
          <a:prstGeom prst="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050791"/>
            <a:ext cx="438912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Why augmentation?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44568"/>
            <a:ext cx="4389120" cy="7315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Small variations in training images can help the model generalize to new examples.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1825F"/>
                </a:solidFill>
                <a:latin typeface="Aptos"/>
              </a:defRPr>
            </a:pPr>
            <a:r>
              <a:rPr dirty="0"/>
              <a:t>Output: a structured image dataset ready for CNN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2 — CNN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698480" cy="6400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Purpose: train and compare deep-learning models on the prepared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83280" cy="19659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82296" cy="196596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VGG19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2971800" cy="11887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0"/>
                </a:solidFill>
                <a:latin typeface="Aptos"/>
              </a:defRPr>
            </a:pPr>
            <a:r>
              <a:t>A deep CNN architecture used as one candidate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19659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82296" cy="1965960"/>
          </a:xfrm>
          <a:prstGeom prst="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70048"/>
            <a:ext cx="2971800" cy="11887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0"/>
                </a:solidFill>
                <a:latin typeface="Aptos"/>
              </a:defRPr>
            </a:pPr>
            <a:r>
              <a:t>Uses residual connections to support deeper feature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11680"/>
            <a:ext cx="3383280" cy="19659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011680"/>
            <a:ext cx="82296" cy="1965960"/>
          </a:xfrm>
          <a:prstGeom prst="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EfficientNetB2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70048"/>
            <a:ext cx="2971800" cy="11887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0"/>
                </a:solidFill>
                <a:latin typeface="Aptos"/>
              </a:defRPr>
            </a:pPr>
            <a:r>
              <a:t>Balances model depth, width and resolution for efficient learning.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241280" cy="173736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Train the candidate models using the prepared training images.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Evaluate model performance on validation data.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Save the best model checkpoints for later inference and ensemble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2 — Evaluation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5074920" cy="16002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82296" cy="160020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490472"/>
            <a:ext cx="466344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4663440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0"/>
                </a:solidFill>
                <a:latin typeface="Aptos"/>
              </a:defRPr>
            </a:pPr>
            <a:r>
              <a:rPr dirty="0"/>
              <a:t>Compare models using validation performance and relevant classification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074920" cy="16002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82296" cy="1600200"/>
          </a:xfrm>
          <a:prstGeom prst="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66344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Checkpoint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84248"/>
            <a:ext cx="4663440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0"/>
                </a:solidFill>
                <a:latin typeface="Aptos"/>
              </a:defRPr>
            </a:pPr>
            <a:r>
              <a:rPr dirty="0"/>
              <a:t>Save the trained weights / model files so the detector can load them later.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" y="3840480"/>
            <a:ext cx="10241280" cy="6400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744"/>
                </a:solidFill>
                <a:latin typeface="Aptos"/>
              </a:defRPr>
            </a:pPr>
            <a:r>
              <a:t>A previous project summary reported 91.55% offline accuracy for the CNN ensemble.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82737"/>
            <a:ext cx="10241280" cy="7772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6C7A"/>
                </a:solidFill>
                <a:latin typeface="Aptos"/>
              </a:defRPr>
            </a:pPr>
            <a:r>
              <a:rPr dirty="0"/>
              <a:t>This is an offline result, not a guarantee of real-time performance. Use it only if it matches the final experiment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3 — CNN Ensemble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698480" cy="6400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Purpose: combine predictions from multiple trained CNNs into one detector.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2011680" cy="960120"/>
          </a:xfrm>
          <a:prstGeom prst="round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Input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057400"/>
            <a:ext cx="2011680" cy="960120"/>
          </a:xfrm>
          <a:prstGeom prst="round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Preprocess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12664" y="2057400"/>
            <a:ext cx="2011680" cy="960120"/>
          </a:xfrm>
          <a:prstGeom prst="round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VGG19 + ResNet50</a:t>
            </a:r>
            <a:br>
              <a:rPr dirty="0"/>
            </a:br>
            <a:r>
              <a:rPr dirty="0"/>
              <a:t>+ EfficientNetB2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7536" y="2057400"/>
            <a:ext cx="2011680" cy="960120"/>
          </a:xfrm>
          <a:prstGeom prst="round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Combine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4936" y="228600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22408" y="2057400"/>
            <a:ext cx="2011680" cy="96012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D</a:t>
            </a:r>
            <a:r>
              <a:rPr lang="en-IN" dirty="0"/>
              <a:t>r</a:t>
            </a:r>
            <a:r>
              <a:rPr dirty="0" err="1"/>
              <a:t>owsiness</a:t>
            </a:r>
            <a:r>
              <a:rPr dirty="0"/>
              <a:t>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210312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Load the trained model checkpoints.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Apply the same image preprocessing expected by the models.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Run inference with the ensemble models and combine their outputs.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t>Return a drowsiness classification / confidence for the calling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3 —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02920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82296" cy="1828800"/>
          </a:xfrm>
          <a:prstGeom prst="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461772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Implemented in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7"/>
            <a:ext cx="4617720" cy="10515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rPr dirty="0"/>
              <a:t>The detector structure is designed to load VGG19, ResNet50 and EfficientNetB2 model files and produce an ensemble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02920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82296" cy="1828800"/>
          </a:xfrm>
          <a:prstGeom prst="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36192"/>
            <a:ext cx="461772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Integration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7"/>
            <a:ext cx="4617720" cy="10515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The expected trained model files must be available at the configured paths before the detector can be validated end-to-end.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10689336" cy="692497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B04141"/>
                </a:solidFill>
                <a:latin typeface="Aptos"/>
              </a:defRPr>
            </a:pPr>
            <a:r>
              <a:rPr dirty="0"/>
              <a:t>Current presentation status: real-time CNN inference is pending model-file availability /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6 —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698480" cy="6400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744"/>
                </a:solidFill>
                <a:latin typeface="Aptos"/>
              </a:defRPr>
            </a:pPr>
            <a:r>
              <a:t>Purpose: provide a simple interface to demonstrate and monitor the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338328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82296" cy="182880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Dashboard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2971800" cy="10515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rPr dirty="0"/>
              <a:t>Project title, status messages and a clear layout.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38328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82296" cy="1828800"/>
          </a:xfrm>
          <a:prstGeom prst="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13055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Webcam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24328"/>
            <a:ext cx="2971800" cy="10515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rPr dirty="0"/>
              <a:t>OpenCV captures and displays camera frames in the browser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338328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965960"/>
            <a:ext cx="82296" cy="1828800"/>
          </a:xfrm>
          <a:prstGeom prst="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2971800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Status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24328"/>
            <a:ext cx="2971800" cy="10515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B3440"/>
                </a:solidFill>
                <a:latin typeface="Aptos"/>
              </a:defRPr>
            </a:pPr>
            <a:r>
              <a:t>Show which AI modules are available and which are 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241280" cy="169164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 dirty="0"/>
              <a:t>Built using Python and </a:t>
            </a:r>
            <a:r>
              <a:rPr dirty="0" err="1"/>
              <a:t>Streamlit</a:t>
            </a:r>
            <a:r>
              <a:rPr dirty="0"/>
              <a:t>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 dirty="0"/>
              <a:t>Uses OpenCV for webcam capture and frame display.</a:t>
            </a:r>
          </a:p>
          <a:p>
            <a:pPr>
              <a:spcAft>
                <a:spcPts val="1500"/>
              </a:spcAft>
              <a:defRPr sz="1700">
                <a:solidFill>
                  <a:srgbClr val="2B3440"/>
                </a:solidFill>
                <a:latin typeface="Aptos"/>
              </a:defRPr>
            </a:pPr>
            <a:r>
              <a:rPr dirty="0"/>
              <a:t>CNN inference and risk scoring are explicitly marked pending until their modules are integrated.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Phase 6 — Running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05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800"/>
              </a:spcAft>
              <a:defRPr sz="1200" b="1">
                <a:solidFill>
                  <a:srgbClr val="C3DDF4"/>
                </a:solidFill>
                <a:latin typeface="Aptos"/>
              </a:defRPr>
            </a:pPr>
            <a:r>
              <a:t>PHASE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011680" cy="960120"/>
          </a:xfrm>
          <a:prstGeom prst="round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Open Project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920240"/>
            <a:ext cx="2011680" cy="960120"/>
          </a:xfrm>
          <a:prstGeom prst="roundRect">
            <a:avLst/>
          </a:prstGeom>
          <a:solidFill>
            <a:srgbClr val="1A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Activate .venv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214884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2664" y="1920240"/>
            <a:ext cx="2011680" cy="960120"/>
          </a:xfrm>
          <a:prstGeom prst="round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Run 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0064" y="214884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7536" y="1920240"/>
            <a:ext cx="2011680" cy="960120"/>
          </a:xfrm>
          <a:prstGeom prst="round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Open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4936" y="2148840"/>
            <a:ext cx="347472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5F6C7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1920240"/>
            <a:ext cx="2011680" cy="960120"/>
          </a:xfrm>
          <a:prstGeom prst="round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Start Webcam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24128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Command to run from the project folder: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10241280" cy="77724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744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streamlit</a:t>
            </a:r>
            <a:r>
              <a:rPr dirty="0"/>
              <a:t> run dashboard.py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D19CD-E089-995E-C260-CFF14C1E765C}"/>
              </a:ext>
            </a:extLst>
          </p:cNvPr>
          <p:cNvSpPr txBox="1"/>
          <p:nvPr/>
        </p:nvSpPr>
        <p:spPr>
          <a:xfrm>
            <a:off x="3178629" y="5812971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A8B2C"/>
                </a:solidFill>
                <a:latin typeface="Aptos"/>
              </a:defRPr>
            </a:pPr>
            <a:r>
              <a:rPr lang="en-US" dirty="0"/>
              <a:t>The webcam preview is a demonstration only until its fully  integrated.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38912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Current Status of Project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82296" cy="594360"/>
          </a:xfrm>
          <a:prstGeom prst="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99032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34416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Dataset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344168"/>
            <a:ext cx="5074920" cy="26161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1825F"/>
                </a:solidFill>
                <a:latin typeface="Aptos"/>
              </a:defRPr>
            </a:pPr>
            <a:r>
              <a:rPr lang="en-US" dirty="0"/>
              <a:t>Completed 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77240" y="201168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011680"/>
            <a:ext cx="82296" cy="594360"/>
          </a:xfrm>
          <a:prstGeom prst="rect">
            <a:avLst/>
          </a:prstGeom>
          <a:solidFill>
            <a:srgbClr val="31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176272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0048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212140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CNN training and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21408"/>
            <a:ext cx="5074920" cy="26161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1825F"/>
                </a:solidFill>
                <a:latin typeface="Aptos"/>
              </a:defRPr>
            </a:pPr>
            <a:r>
              <a:rPr lang="en-US" dirty="0"/>
              <a:t>Completed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77240" y="278892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2788920"/>
            <a:ext cx="82296" cy="594360"/>
          </a:xfrm>
          <a:prstGeom prst="rect">
            <a:avLst/>
          </a:prstGeom>
          <a:solidFill>
            <a:srgbClr val="DA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953512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47288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289864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CNN ensemble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921508"/>
            <a:ext cx="50749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A8B2C"/>
                </a:solidFill>
                <a:latin typeface="Aptos"/>
              </a:defRPr>
            </a:pPr>
            <a:r>
              <a:rPr dirty="0"/>
              <a:t>Code prepared; real-time validation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6616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566160"/>
            <a:ext cx="82296" cy="594360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730752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24528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367588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Phone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675888"/>
            <a:ext cx="50749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F6C7A"/>
                </a:solidFill>
                <a:latin typeface="Aptos"/>
              </a:defRPr>
            </a:pPr>
            <a:r>
              <a:rPr dirty="0"/>
              <a:t>Pending / excluded from this presentation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4340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343400"/>
            <a:ext cx="82296" cy="594360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507992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01768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445312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Risk assessment and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453128"/>
            <a:ext cx="50749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F6C7A"/>
                </a:solidFill>
                <a:latin typeface="Aptos"/>
              </a:defRPr>
            </a:pPr>
            <a:r>
              <a:t>Pending / excluded from this presentation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120640"/>
            <a:ext cx="1874519" cy="594360"/>
          </a:xfrm>
          <a:prstGeom prst="roundRect">
            <a:avLst/>
          </a:prstGeom>
          <a:solidFill>
            <a:srgbClr val="F0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5120640"/>
            <a:ext cx="82296" cy="594360"/>
          </a:xfrm>
          <a:prstGeom prst="rect">
            <a:avLst/>
          </a:prstGeom>
          <a:solidFill>
            <a:srgbClr val="2B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285231"/>
            <a:ext cx="1463039" cy="38404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744"/>
                </a:solidFill>
                <a:latin typeface="Aptos"/>
              </a:defRPr>
            </a:pPr>
            <a:r>
              <a:t>Phase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7"/>
            <a:ext cx="1463039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B3440"/>
                </a:solidFill>
                <a:latin typeface="Aptos"/>
              </a:defRPr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5230368"/>
            <a:ext cx="32461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B3440"/>
                </a:solidFill>
                <a:latin typeface="Aptos"/>
              </a:defRPr>
            </a:pPr>
            <a:r>
              <a:t>Streamlit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230368"/>
            <a:ext cx="50749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B67B2"/>
                </a:solidFill>
                <a:latin typeface="Aptos"/>
              </a:defRPr>
            </a:pPr>
            <a:r>
              <a:t>UI / webcam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08760"/>
            <a:ext cx="10515600" cy="2169825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rPr sz="13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757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Mayank Pandey</dc:creator>
  <cp:keywords/>
  <dc:description>generated using python-pptx</dc:description>
  <cp:lastModifiedBy>Mayank Pandey</cp:lastModifiedBy>
  <cp:revision>2</cp:revision>
  <dcterms:created xsi:type="dcterms:W3CDTF">2013-01-27T09:14:16Z</dcterms:created>
  <dcterms:modified xsi:type="dcterms:W3CDTF">2026-10-21T20:03:43Z</dcterms:modified>
  <cp:category/>
</cp:coreProperties>
</file>